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9" r:id="rId12"/>
    <p:sldId id="268" r:id="rId13"/>
    <p:sldId id="270" r:id="rId14"/>
    <p:sldId id="267" r:id="rId15"/>
    <p:sldId id="271" r:id="rId16"/>
    <p:sldId id="272" r:id="rId17"/>
    <p:sldId id="273" r:id="rId18"/>
    <p:sldId id="264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Light Style 3 –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621"/>
    <p:restoredTop sz="89570"/>
  </p:normalViewPr>
  <p:slideViewPr>
    <p:cSldViewPr snapToGrid="0">
      <p:cViewPr>
        <p:scale>
          <a:sx n="133" d="100"/>
          <a:sy n="133" d="100"/>
        </p:scale>
        <p:origin x="1096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05E253-56D1-964A-8B2C-4139C9A0CDC3}" type="datetimeFigureOut">
              <a:rPr lang="en-US" smtClean="0"/>
              <a:t>8/3/26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BF3160-9781-5349-B045-00B58ECE0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698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PR-AUC = </a:t>
            </a:r>
            <a:r>
              <a:rPr lang="en-US" dirty="0"/>
              <a:t>Can the model find callback auditions without producing too many false callback predictions</a:t>
            </a:r>
          </a:p>
          <a:p>
            <a:endParaRPr lang="en-US" dirty="0"/>
          </a:p>
          <a:p>
            <a:r>
              <a:rPr lang="en-US" dirty="0">
                <a:solidFill>
                  <a:srgbClr val="0070C0"/>
                </a:solidFill>
              </a:rPr>
              <a:t>F1 = 0.6342 = </a:t>
            </a:r>
            <a:r>
              <a:rPr lang="en-US" dirty="0"/>
              <a:t>At the selected threshold, how well does the model balance finding callbacks against avoiding callback predictions</a:t>
            </a:r>
          </a:p>
          <a:p>
            <a:endParaRPr lang="en-US" dirty="0"/>
          </a:p>
          <a:p>
            <a:r>
              <a:rPr lang="en-US" dirty="0">
                <a:solidFill>
                  <a:srgbClr val="0070C0"/>
                </a:solidFill>
              </a:rPr>
              <a:t>Balanced accuracy = </a:t>
            </a:r>
            <a:r>
              <a:rPr lang="en-US" dirty="0"/>
              <a:t>Does the model perform reasonably well on both callbacks and non callbacks </a:t>
            </a:r>
          </a:p>
          <a:p>
            <a:endParaRPr lang="en-US" dirty="0"/>
          </a:p>
          <a:p>
            <a:r>
              <a:rPr lang="en-US" dirty="0">
                <a:solidFill>
                  <a:srgbClr val="0070C0"/>
                </a:solidFill>
              </a:rPr>
              <a:t>BCE = </a:t>
            </a:r>
            <a:r>
              <a:rPr lang="en-US" dirty="0"/>
              <a:t>Binary Cross Entropy. How good are the models predicted probabilities</a:t>
            </a:r>
          </a:p>
          <a:p>
            <a:endParaRPr lang="en-US" dirty="0"/>
          </a:p>
          <a:p>
            <a:r>
              <a:rPr lang="en-US" dirty="0">
                <a:solidFill>
                  <a:srgbClr val="0070C0"/>
                </a:solidFill>
              </a:rPr>
              <a:t>AUROC =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BF3160-9781-5349-B045-00B58ECE06C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1329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BF3160-9781-5349-B045-00B58ECE06C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5149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10 of code – Notebook 2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BF3160-9781-5349-B045-00B58ECE06C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2704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BF3160-9781-5349-B045-00B58ECE06C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2167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BF3160-9781-5349-B045-00B58ECE06C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4193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B1273-11AE-4BDC-FCE2-2F1C28929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F6BBA7-3E18-647C-CE78-5005092C5B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F60464-C2F8-F946-0230-378AE5D284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DC8E8A-DE33-E840-2BA2-349891FD76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BF3160-9781-5349-B045-00B58ECE06C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7258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85F1E-71A9-61CC-DDF2-09D362ABE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99EA66-9BBF-B042-BEA7-B619F3040F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33AD76-89A3-8DFB-28A6-16F7E553AA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SISA replay</a:t>
            </a:r>
            <a:r>
              <a:rPr lang="en-GB" dirty="0"/>
              <a:t> means repeating part of the SISA training process after removing the requested records.</a:t>
            </a:r>
          </a:p>
          <a:p>
            <a:r>
              <a:rPr lang="en-GB" dirty="0"/>
              <a:t>Normally it:</a:t>
            </a:r>
          </a:p>
          <a:p>
            <a:r>
              <a:rPr lang="en-GB" dirty="0"/>
              <a:t>Finds the slice containing the deleted data. </a:t>
            </a:r>
          </a:p>
          <a:p>
            <a:r>
              <a:rPr lang="en-GB" dirty="0"/>
              <a:t>Returns to the checkpoint saved before that slice. </a:t>
            </a:r>
          </a:p>
          <a:p>
            <a:r>
              <a:rPr lang="en-GB" dirty="0"/>
              <a:t>Removes the forget records. </a:t>
            </a:r>
          </a:p>
          <a:p>
            <a:r>
              <a:rPr lang="en-GB" dirty="0"/>
              <a:t>Retrains that shard from that point onwards. </a:t>
            </a:r>
          </a:p>
          <a:p>
            <a:r>
              <a:rPr lang="en-GB" dirty="0"/>
              <a:t>In your experiment, deleted records appeared in slice 1 of every shard. Therefore, SISA had to restart all five shard models from their initial weights and repeat all 25 training stages without the deleted records.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DBC0B9-A1BB-EC0A-287C-0C476F9824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BF3160-9781-5349-B045-00B58ECE06C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3763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Harmonic mean = 9/ (1/x^1) + (1/x^2)+…+ (1/x^9)</a:t>
            </a:r>
          </a:p>
          <a:p>
            <a:endParaRPr lang="en-US" dirty="0"/>
          </a:p>
          <a:p>
            <a:r>
              <a:rPr lang="en-US" dirty="0"/>
              <a:t>Truth Ratio = average probability of incorrect answers / probability of correct paraphrased answers</a:t>
            </a:r>
          </a:p>
          <a:p>
            <a:endParaRPr lang="en-US" dirty="0"/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 err="1"/>
              <a:t>CastMe</a:t>
            </a:r>
            <a:r>
              <a:rPr lang="en-GB" b="1" dirty="0"/>
              <a:t> Forget Quality</a:t>
            </a:r>
            <a:br>
              <a:rPr lang="en-GB" dirty="0"/>
            </a:br>
            <a:r>
              <a:rPr lang="en-GB" dirty="0"/>
              <a:t>- Classifier Truth Ratio on Forget Set (Approximate-unlearning model vs Full-retraining model)</a:t>
            </a:r>
            <a:br>
              <a:rPr lang="en-GB" dirty="0"/>
            </a:br>
            <a:r>
              <a:rPr lang="en-GB" dirty="0"/>
              <a:t>- Compares both Truth Ratio distributions using a two-sample KS test</a:t>
            </a:r>
            <a:br>
              <a:rPr lang="en-GB" dirty="0"/>
            </a:br>
            <a:r>
              <a:rPr lang="en-GB" dirty="0"/>
              <a:t>- KS p-value gives the final Forget Quality score</a:t>
            </a:r>
            <a:br>
              <a:rPr lang="en-GB" dirty="0"/>
            </a:br>
            <a:r>
              <a:rPr lang="en-GB" dirty="0"/>
              <a:t>- Higher p-value = closer to full retraining and therefore better forgetting</a:t>
            </a:r>
            <a:br>
              <a:rPr lang="en-GB" dirty="0"/>
            </a:br>
            <a:r>
              <a:rPr lang="en-GB" dirty="0"/>
              <a:t>- KS statistic is reported as supporting evidence—lower is better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BF3160-9781-5349-B045-00B58ECE06C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0092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BF3160-9781-5349-B045-00B58ECE06C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106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D5A03-3951-E1F9-0B34-07585FFCB3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428A81-9044-EB7F-CE25-1AB1487D3D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5C96B4-5995-C463-367A-9EBD57666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F200A-1572-894B-9CE7-87C7E77C2A07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2B359A-C4A6-9821-045A-CCC623EDC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8FE1B8-AFEF-98EF-CD61-D117D0E03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C214D-56D9-934A-963E-C096C52451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458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98E38-D757-0EB5-7983-6275E8976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95823-CAC1-242B-8553-958851D754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C507C-1AAF-B890-A85E-B080FA7DB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F200A-1572-894B-9CE7-87C7E77C2A07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4FED7-DF76-3326-A6C3-A9A0A8613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C207E5-6E30-A479-F470-DC05259B7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C214D-56D9-934A-963E-C096C52451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04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26648-1CCC-B3F1-3016-6C4E03DCE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5B8F34-2BD8-1CD4-3ACB-0A6E8AFE0B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F8118D-B18C-6875-2EA3-2703075E0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F200A-1572-894B-9CE7-87C7E77C2A07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09C7A-F91A-5B08-2326-7C8306019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9F7028-8725-F31F-41E5-6C0026C18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C214D-56D9-934A-963E-C096C52451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169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AF512-CC6D-E55D-7A1C-614B2DE00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2FB68C-37D0-7089-0F44-5F8083ED81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138E24-C8D7-5887-0846-7BF9D07849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F8726B-4829-6E9D-EEE0-8EC2D296B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F200A-1572-894B-9CE7-87C7E77C2A07}" type="datetimeFigureOut">
              <a:rPr lang="en-US" smtClean="0"/>
              <a:t>8/3/26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4B812A-217A-5A2D-84CE-AAF097BDB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D2F-B62D-F7EF-845D-81DBFF720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C214D-56D9-934A-963E-C096C52451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6703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7AFFF-9277-F600-EFD1-55336008C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5F9F0A-6978-DB5D-74A7-3D1267FFB9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C724AF-3235-B03E-4FE6-F60ECC888D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0BF51E-F792-F0B5-E1E4-614652DC65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349BDC-5FDA-B32B-09B5-FC26144B66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C7ABC6-FD12-9B26-54C4-DD68573ED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F200A-1572-894B-9CE7-87C7E77C2A07}" type="datetimeFigureOut">
              <a:rPr lang="en-US" smtClean="0"/>
              <a:t>8/3/26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95C2E9-101A-6653-78CB-8F96223D0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0BC141-A525-2065-2D76-BD3D0DEF2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C214D-56D9-934A-963E-C096C52451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438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B97C1-9B40-6598-B708-0D6B760F7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E2C54C-D644-7D0C-D048-CCB37634C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F200A-1572-894B-9CE7-87C7E77C2A07}" type="datetimeFigureOut">
              <a:rPr lang="en-US" smtClean="0"/>
              <a:t>8/3/26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083030-9255-B250-8354-B16BA621D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2B8DBB-7FF5-4AFC-0A6C-7BACFF2B3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C214D-56D9-934A-963E-C096C52451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044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6317E7-2B1E-4533-4691-1AB166887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F200A-1572-894B-9CE7-87C7E77C2A07}" type="datetimeFigureOut">
              <a:rPr lang="en-US" smtClean="0"/>
              <a:t>8/3/26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E5FA4B-C75E-F51B-1216-E73C7F6F5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88CCE6-3F75-F8DB-ED33-E4DC2E60B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C214D-56D9-934A-963E-C096C52451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371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B73F3-0B95-FAE0-3CEB-61EC04EE6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292613-4125-3189-4299-1D96F52DA5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12E0D3-1A22-4E25-9EF9-7108A5A25F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2F7946-6031-B23C-8288-4E2FE5F7F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F200A-1572-894B-9CE7-87C7E77C2A07}" type="datetimeFigureOut">
              <a:rPr lang="en-US" smtClean="0"/>
              <a:t>8/3/26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23DA37-A703-375A-BF74-F47B94F58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E023D3-7255-4E7B-E920-C4889F267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C214D-56D9-934A-963E-C096C52451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713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15B7A-1479-2AE7-85CD-2C54EA1DC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DC46E0-3EC0-DE3E-F719-8BCCB85829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89005E-1D14-1C0D-4937-E82952CFEC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59C5F9-1C14-B937-B14A-4E512AE5A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F200A-1572-894B-9CE7-87C7E77C2A07}" type="datetimeFigureOut">
              <a:rPr lang="en-US" smtClean="0"/>
              <a:t>8/3/26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563450-84C4-8653-2EF9-A13074DE2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6CC3C7-FF97-E15A-1650-819F9BB10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C214D-56D9-934A-963E-C096C52451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548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955E4-F849-C924-44D8-2F9F7D897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58D65A-46FF-7DD0-49AC-BFFF6206D8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3A4CF1-D0F0-7C11-2EE0-5A35F9CE7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F200A-1572-894B-9CE7-87C7E77C2A07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3965F-03C0-769A-E705-F049D5F33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72CD0E-5A69-C306-58A0-323D9C7BD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C214D-56D9-934A-963E-C096C52451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234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F06E27-2EF0-718B-D065-0D09D18DC8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8C649C-425D-A8DF-6486-C7D65043F9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CF3FF9-28B7-5F15-5755-A8FEC321F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F200A-1572-894B-9CE7-87C7E77C2A07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D0B0CF-C8F5-E83F-F09C-66597045B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B2278C-34D7-5C49-90A5-9F4A87A77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C214D-56D9-934A-963E-C096C52451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564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166F8A-9DAE-A3EE-528D-7DD061B8F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AAB81A-3EF4-C353-6B02-5D47322914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13F43-8968-2754-6A9A-A55C0EA559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FF200A-1572-894B-9CE7-87C7E77C2A07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52E842-6E6B-13E6-42A7-D24C4E50B2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36B659-723D-BC70-46E1-DD54788B40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0C214D-56D9-934A-963E-C096C52451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657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503FE-E903-85C6-CD71-2474F99834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0CCE24-9081-C0F4-D17D-0995EA5636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4621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CB96F-AB08-50EF-FB84-7627A2CB5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CastMe</a:t>
            </a:r>
            <a:r>
              <a:rPr lang="en-US" dirty="0"/>
              <a:t> - Baseline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CE5659-6299-84BC-C988-71D57ADEB8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4000"/>
            <a:ext cx="10515600" cy="5120639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AutoNum type="arabicPeriod"/>
            </a:pPr>
            <a:r>
              <a:rPr lang="en-US" dirty="0"/>
              <a:t>Load and inspect </a:t>
            </a:r>
          </a:p>
          <a:p>
            <a:pPr marL="514350" indent="-514350">
              <a:buAutoNum type="arabicPeriod"/>
            </a:pPr>
            <a:r>
              <a:rPr lang="en-US" dirty="0"/>
              <a:t>Clean and verify</a:t>
            </a:r>
          </a:p>
          <a:p>
            <a:pPr marL="514350" indent="-514350">
              <a:buAutoNum type="arabicPeriod"/>
            </a:pPr>
            <a:r>
              <a:rPr lang="en-US" dirty="0"/>
              <a:t>Separate features, target and audit metadata</a:t>
            </a:r>
          </a:p>
          <a:p>
            <a:pPr marL="514350" indent="-514350">
              <a:buAutoNum type="arabicPeriod"/>
            </a:pPr>
            <a:r>
              <a:rPr lang="en-US" dirty="0"/>
              <a:t>Create data split (70/15/15)</a:t>
            </a:r>
          </a:p>
          <a:p>
            <a:pPr marL="514350" indent="-514350">
              <a:buAutoNum type="arabicPeriod"/>
            </a:pPr>
            <a:r>
              <a:rPr lang="en-US" dirty="0"/>
              <a:t>Fit the preprocessing</a:t>
            </a:r>
          </a:p>
          <a:p>
            <a:pPr marL="514350" indent="-514350">
              <a:buAutoNum type="arabicPeriod"/>
            </a:pPr>
            <a:r>
              <a:rPr lang="en-US" dirty="0"/>
              <a:t>Train Original Model </a:t>
            </a:r>
          </a:p>
          <a:p>
            <a:pPr marL="971550" lvl="1" indent="-514350">
              <a:buAutoNum type="arabicPeriod"/>
            </a:pPr>
            <a:r>
              <a:rPr lang="en-US" dirty="0" err="1">
                <a:solidFill>
                  <a:srgbClr val="0070C0"/>
                </a:solidFill>
              </a:rPr>
              <a:t>Pytorch</a:t>
            </a:r>
            <a:r>
              <a:rPr lang="en-US" dirty="0">
                <a:solidFill>
                  <a:srgbClr val="0070C0"/>
                </a:solidFill>
              </a:rPr>
              <a:t> MLP = better for unlearning</a:t>
            </a:r>
          </a:p>
          <a:p>
            <a:pPr marL="971550" lvl="1" indent="-514350">
              <a:buAutoNum type="arabicPeriod"/>
            </a:pPr>
            <a:r>
              <a:rPr lang="en-US" dirty="0">
                <a:solidFill>
                  <a:srgbClr val="0070C0"/>
                </a:solidFill>
              </a:rPr>
              <a:t>Early stopping based on validation loss</a:t>
            </a:r>
          </a:p>
          <a:p>
            <a:pPr marL="514350" indent="-514350">
              <a:buAutoNum type="arabicPeriod"/>
            </a:pPr>
            <a:r>
              <a:rPr lang="en-US" dirty="0"/>
              <a:t>Select Decision Threshold</a:t>
            </a:r>
          </a:p>
          <a:p>
            <a:pPr marL="971550" lvl="1" indent="-514350">
              <a:buAutoNum type="arabicPeriod"/>
            </a:pPr>
            <a:r>
              <a:rPr lang="en-US" dirty="0">
                <a:solidFill>
                  <a:srgbClr val="0070C0"/>
                </a:solidFill>
              </a:rPr>
              <a:t>Threshold = 0.32 = best validation F1</a:t>
            </a:r>
          </a:p>
          <a:p>
            <a:pPr marL="514350" indent="-514350">
              <a:buAutoNum type="arabicPeriod"/>
            </a:pPr>
            <a:r>
              <a:rPr lang="en-US" dirty="0"/>
              <a:t>Evaluate the Model</a:t>
            </a:r>
          </a:p>
          <a:p>
            <a:pPr marL="514350" indent="-514350">
              <a:buAutoNum type="arabicPeriod"/>
            </a:pPr>
            <a:r>
              <a:rPr lang="en-US" dirty="0"/>
              <a:t>Check training robustness</a:t>
            </a:r>
          </a:p>
          <a:p>
            <a:pPr marL="514350" indent="-514350">
              <a:buAutoNum type="arabicPeriod"/>
            </a:pPr>
            <a:r>
              <a:rPr lang="en-US" dirty="0"/>
              <a:t>Save and verify</a:t>
            </a:r>
          </a:p>
        </p:txBody>
      </p:sp>
    </p:spTree>
    <p:extLst>
      <p:ext uri="{BB962C8B-B14F-4D97-AF65-F5344CB8AC3E}">
        <p14:creationId xmlns:p14="http://schemas.microsoft.com/office/powerpoint/2010/main" val="766517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DA129-AC33-B16C-2B32-5F36245E5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7641"/>
            <a:ext cx="10515600" cy="1325563"/>
          </a:xfrm>
        </p:spPr>
        <p:txBody>
          <a:bodyPr/>
          <a:lstStyle/>
          <a:p>
            <a:r>
              <a:rPr lang="en-US" dirty="0"/>
              <a:t>Baseline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D82D9-C0F5-A6DD-7086-0A3DAB863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6360"/>
            <a:ext cx="11109960" cy="368808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PR-AUC = 0.6264 </a:t>
            </a:r>
          </a:p>
          <a:p>
            <a:r>
              <a:rPr lang="en-US" dirty="0">
                <a:solidFill>
                  <a:srgbClr val="0070C0"/>
                </a:solidFill>
              </a:rPr>
              <a:t>F1 = 0.6342</a:t>
            </a:r>
            <a:endParaRPr lang="en-US" dirty="0"/>
          </a:p>
          <a:p>
            <a:r>
              <a:rPr lang="en-US" dirty="0">
                <a:solidFill>
                  <a:srgbClr val="0070C0"/>
                </a:solidFill>
              </a:rPr>
              <a:t>Balanced accuracy = 0.6982</a:t>
            </a:r>
            <a:endParaRPr lang="en-US" dirty="0"/>
          </a:p>
          <a:p>
            <a:r>
              <a:rPr lang="en-US" dirty="0">
                <a:solidFill>
                  <a:srgbClr val="0070C0"/>
                </a:solidFill>
              </a:rPr>
              <a:t>BCE = 0.5456</a:t>
            </a:r>
            <a:endParaRPr lang="en-US" dirty="0"/>
          </a:p>
          <a:p>
            <a:r>
              <a:rPr lang="en-US" dirty="0">
                <a:solidFill>
                  <a:srgbClr val="0070C0"/>
                </a:solidFill>
              </a:rPr>
              <a:t>AUROC = 0.7686</a:t>
            </a:r>
          </a:p>
          <a:p>
            <a:r>
              <a:rPr lang="en-US" dirty="0"/>
              <a:t>Conclusion = good baseline, suitable for unlearning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DD36AF5-E3EB-B5E6-C9E0-8F25DAA7F9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6678" y="5048069"/>
            <a:ext cx="5600700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195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4AEB5-C1D6-7FA6-6A8D-408CD07B2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Forget Sets &amp; retraining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252307-85BF-AEE5-9A28-F441411EF5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514350" indent="-514350">
              <a:buAutoNum type="arabicPeriod"/>
            </a:pPr>
            <a:r>
              <a:rPr lang="en-US" dirty="0"/>
              <a:t>Load saved Original model</a:t>
            </a:r>
          </a:p>
          <a:p>
            <a:pPr marL="514350" indent="-514350">
              <a:buAutoNum type="arabicPeriod"/>
            </a:pPr>
            <a:r>
              <a:rPr lang="en-US" dirty="0"/>
              <a:t>Define 5 realistic deletion request</a:t>
            </a:r>
          </a:p>
          <a:p>
            <a:pPr marL="514350" indent="-514350">
              <a:buAutoNum type="arabicPeriod"/>
            </a:pPr>
            <a:r>
              <a:rPr lang="en-US" dirty="0"/>
              <a:t>Profiled each deletion scenario – counts </a:t>
            </a:r>
            <a:r>
              <a:rPr lang="en-US" dirty="0" err="1"/>
              <a:t>etc</a:t>
            </a: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Construct separate forget &amp; retain sets</a:t>
            </a:r>
          </a:p>
          <a:p>
            <a:pPr marL="514350" indent="-514350">
              <a:buAutoNum type="arabicPeriod"/>
            </a:pPr>
            <a:r>
              <a:rPr lang="en-US" dirty="0"/>
              <a:t>Verified sets were correct – no overlap</a:t>
            </a:r>
          </a:p>
          <a:p>
            <a:pPr marL="514350" indent="-514350">
              <a:buAutoNum type="arabicPeriod"/>
            </a:pPr>
            <a:r>
              <a:rPr lang="en-GB" dirty="0"/>
              <a:t>Remove matching records from validation and test data to create retained validation/test sets.</a:t>
            </a: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Create new preprocessing for each scenario</a:t>
            </a:r>
          </a:p>
          <a:p>
            <a:pPr marL="514350" indent="-514350">
              <a:buAutoNum type="arabicPeriod"/>
            </a:pPr>
            <a:r>
              <a:rPr lang="en-US" dirty="0"/>
              <a:t>Retrained one fresh model per scenario</a:t>
            </a:r>
          </a:p>
          <a:p>
            <a:pPr marL="514350" indent="-514350">
              <a:buAutoNum type="arabicPeriod"/>
            </a:pPr>
            <a:r>
              <a:rPr lang="en-US" dirty="0"/>
              <a:t>Measured retained-data utility = same threshold 0.32</a:t>
            </a:r>
          </a:p>
          <a:p>
            <a:pPr marL="514350" indent="-514350">
              <a:buAutoNum type="arabicPeriod"/>
            </a:pPr>
            <a:r>
              <a:rPr lang="en-US" dirty="0"/>
              <a:t>Measure behavior on forget set</a:t>
            </a:r>
          </a:p>
          <a:p>
            <a:pPr marL="514350" indent="-514350">
              <a:buAutoNum type="arabicPeriod"/>
            </a:pPr>
            <a:r>
              <a:rPr lang="en-US" dirty="0"/>
              <a:t>Saved and verified all reference artifacts</a:t>
            </a:r>
          </a:p>
        </p:txBody>
      </p:sp>
    </p:spTree>
    <p:extLst>
      <p:ext uri="{BB962C8B-B14F-4D97-AF65-F5344CB8AC3E}">
        <p14:creationId xmlns:p14="http://schemas.microsoft.com/office/powerpoint/2010/main" val="31341895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92F3D-AB75-2811-D123-F796A3EF2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Retraining Results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A9C5039-BE67-57BF-0513-2C82C5FFE8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9105019"/>
              </p:ext>
            </p:extLst>
          </p:nvPr>
        </p:nvGraphicFramePr>
        <p:xfrm>
          <a:off x="605607" y="1393370"/>
          <a:ext cx="10980786" cy="5283654"/>
        </p:xfrm>
        <a:graphic>
          <a:graphicData uri="http://schemas.openxmlformats.org/drawingml/2006/table">
            <a:tbl>
              <a:tblPr firstRow="1" firstCol="1" bandRow="1">
                <a:tableStyleId>{7DF18680-E054-41AD-8BC1-D1AEF772440D}</a:tableStyleId>
              </a:tblPr>
              <a:tblGrid>
                <a:gridCol w="2574636">
                  <a:extLst>
                    <a:ext uri="{9D8B030D-6E8A-4147-A177-3AD203B41FA5}">
                      <a16:colId xmlns:a16="http://schemas.microsoft.com/office/drawing/2014/main" val="1001542814"/>
                    </a:ext>
                  </a:extLst>
                </a:gridCol>
                <a:gridCol w="1401025">
                  <a:extLst>
                    <a:ext uri="{9D8B030D-6E8A-4147-A177-3AD203B41FA5}">
                      <a16:colId xmlns:a16="http://schemas.microsoft.com/office/drawing/2014/main" val="1398259480"/>
                    </a:ext>
                  </a:extLst>
                </a:gridCol>
                <a:gridCol w="1401025">
                  <a:extLst>
                    <a:ext uri="{9D8B030D-6E8A-4147-A177-3AD203B41FA5}">
                      <a16:colId xmlns:a16="http://schemas.microsoft.com/office/drawing/2014/main" val="992056592"/>
                    </a:ext>
                  </a:extLst>
                </a:gridCol>
                <a:gridCol w="1401025">
                  <a:extLst>
                    <a:ext uri="{9D8B030D-6E8A-4147-A177-3AD203B41FA5}">
                      <a16:colId xmlns:a16="http://schemas.microsoft.com/office/drawing/2014/main" val="1613757675"/>
                    </a:ext>
                  </a:extLst>
                </a:gridCol>
                <a:gridCol w="1401025">
                  <a:extLst>
                    <a:ext uri="{9D8B030D-6E8A-4147-A177-3AD203B41FA5}">
                      <a16:colId xmlns:a16="http://schemas.microsoft.com/office/drawing/2014/main" val="1007743695"/>
                    </a:ext>
                  </a:extLst>
                </a:gridCol>
                <a:gridCol w="1401025">
                  <a:extLst>
                    <a:ext uri="{9D8B030D-6E8A-4147-A177-3AD203B41FA5}">
                      <a16:colId xmlns:a16="http://schemas.microsoft.com/office/drawing/2014/main" val="3188972640"/>
                    </a:ext>
                  </a:extLst>
                </a:gridCol>
                <a:gridCol w="1401025">
                  <a:extLst>
                    <a:ext uri="{9D8B030D-6E8A-4147-A177-3AD203B41FA5}">
                      <a16:colId xmlns:a16="http://schemas.microsoft.com/office/drawing/2014/main" val="203726929"/>
                    </a:ext>
                  </a:extLst>
                </a:gridCol>
              </a:tblGrid>
              <a:tr h="880609">
                <a:tc>
                  <a:txBody>
                    <a:bodyPr/>
                    <a:lstStyle/>
                    <a:p>
                      <a:r>
                        <a:rPr lang="en-US" sz="1600" dirty="0"/>
                        <a:t>Scenario</a:t>
                      </a:r>
                    </a:p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Deleted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PR-AUC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Balanced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AUROC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741012"/>
                  </a:ext>
                </a:extLst>
              </a:tr>
              <a:tr h="880609">
                <a:tc>
                  <a:txBody>
                    <a:bodyPr/>
                    <a:lstStyle/>
                    <a:p>
                      <a:r>
                        <a:rPr lang="en-US" sz="1600" dirty="0"/>
                        <a:t>S1 - Actor Withdrawal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0.99%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0.6252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0.6980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0.5474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0.6339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0.7678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9370270"/>
                  </a:ext>
                </a:extLst>
              </a:tr>
              <a:tr h="880609">
                <a:tc>
                  <a:txBody>
                    <a:bodyPr/>
                    <a:lstStyle/>
                    <a:p>
                      <a:r>
                        <a:rPr lang="en-US" sz="1600" dirty="0"/>
                        <a:t>S2 - Submission Withdrawal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5.09%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0.6270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0.6988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0.5474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0.6344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0.7676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659073"/>
                  </a:ext>
                </a:extLst>
              </a:tr>
              <a:tr h="880609">
                <a:tc>
                  <a:txBody>
                    <a:bodyPr/>
                    <a:lstStyle/>
                    <a:p>
                      <a:r>
                        <a:rPr lang="en-US" sz="1600" dirty="0"/>
                        <a:t>S3 - Agency Withdrawal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10.06%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0.6315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0.7026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0.5443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0.6416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0.7720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5919184"/>
                  </a:ext>
                </a:extLst>
              </a:tr>
              <a:tr h="880609">
                <a:tc>
                  <a:txBody>
                    <a:bodyPr/>
                    <a:lstStyle/>
                    <a:p>
                      <a:r>
                        <a:rPr lang="en-US" sz="1600" dirty="0"/>
                        <a:t>S4 - Project Closure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14.97%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0.6380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0.7021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0.5471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0.6457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0.7714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2655644"/>
                  </a:ext>
                </a:extLst>
              </a:tr>
              <a:tr h="880609">
                <a:tc>
                  <a:txBody>
                    <a:bodyPr/>
                    <a:lstStyle/>
                    <a:p>
                      <a:r>
                        <a:rPr lang="en-US" sz="1600" dirty="0"/>
                        <a:t>S - Retention Expiry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15.00%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0.6318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0.7016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0.5433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0.6358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0.7727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52176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4933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4BDA9-2592-2FE7-DA79-D93191B86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Retain Set Finetuning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4B74F2-2A2E-5530-C959-808ABE881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5943"/>
            <a:ext cx="10515600" cy="5026932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AutoNum type="arabicPeriod"/>
            </a:pPr>
            <a:r>
              <a:rPr lang="en-US" dirty="0"/>
              <a:t>Load the saved Original Model, preprocessor and exact data splits from Notebook 1</a:t>
            </a:r>
          </a:p>
          <a:p>
            <a:pPr marL="514350" indent="-514350">
              <a:buAutoNum type="arabicPeriod"/>
            </a:pPr>
            <a:r>
              <a:rPr lang="en-US" dirty="0"/>
              <a:t>Load the five forget/retain sets and full –retraining reference models from Notebook 2</a:t>
            </a:r>
          </a:p>
          <a:p>
            <a:pPr marL="514350" indent="-514350">
              <a:buAutoNum type="arabicPeriod"/>
            </a:pPr>
            <a:r>
              <a:rPr lang="en-US" dirty="0"/>
              <a:t>Verified hashes, indices and model architectures</a:t>
            </a:r>
          </a:p>
          <a:p>
            <a:pPr marL="514350" indent="-514350">
              <a:buAutoNum type="arabicPeriod"/>
            </a:pPr>
            <a:r>
              <a:rPr lang="en-US" dirty="0"/>
              <a:t>Reload a fresh Baseline model for each scenario</a:t>
            </a:r>
          </a:p>
          <a:p>
            <a:pPr marL="514350" indent="-514350">
              <a:buAutoNum type="arabicPeriod"/>
            </a:pPr>
            <a:r>
              <a:rPr lang="en-US" dirty="0"/>
              <a:t>Fine tune using retained training records only</a:t>
            </a:r>
          </a:p>
          <a:p>
            <a:pPr marL="514350" indent="-514350">
              <a:buAutoNum type="arabicPeriod"/>
            </a:pPr>
            <a:r>
              <a:rPr lang="en-US" dirty="0"/>
              <a:t>Selected the best checkpoint using retained-validation BCE</a:t>
            </a:r>
          </a:p>
          <a:p>
            <a:pPr marL="514350" indent="-514350">
              <a:buAutoNum type="arabicPeriod"/>
            </a:pPr>
            <a:r>
              <a:rPr lang="en-US" dirty="0"/>
              <a:t>Keep fixed threshold of 0.32</a:t>
            </a:r>
          </a:p>
          <a:p>
            <a:pPr marL="514350" indent="-514350">
              <a:buAutoNum type="arabicPeriod"/>
            </a:pPr>
            <a:r>
              <a:rPr lang="en-US" dirty="0" err="1"/>
              <a:t>Comapre</a:t>
            </a:r>
            <a:r>
              <a:rPr lang="en-US" dirty="0"/>
              <a:t> fine tuning with full retraining on retained test records</a:t>
            </a:r>
          </a:p>
          <a:p>
            <a:pPr marL="514350" indent="-514350">
              <a:buAutoNum type="arabicPeriod"/>
            </a:pPr>
            <a:r>
              <a:rPr lang="en-US" dirty="0"/>
              <a:t>Calculate KS-based Forget Quality on deleted training records</a:t>
            </a:r>
          </a:p>
          <a:p>
            <a:pPr marL="514350" indent="-514350">
              <a:buAutoNum type="arabicPeriod"/>
            </a:pPr>
            <a:r>
              <a:rPr lang="en-US" dirty="0"/>
              <a:t>Compare training time and reload all saved artifacts</a:t>
            </a:r>
          </a:p>
        </p:txBody>
      </p:sp>
    </p:spTree>
    <p:extLst>
      <p:ext uri="{BB962C8B-B14F-4D97-AF65-F5344CB8AC3E}">
        <p14:creationId xmlns:p14="http://schemas.microsoft.com/office/powerpoint/2010/main" val="40582580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FFB26-9522-8016-82CF-C22C82B36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Utility Results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0650509-5ED3-0930-17CE-66AB2E89CF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5480655"/>
              </p:ext>
            </p:extLst>
          </p:nvPr>
        </p:nvGraphicFramePr>
        <p:xfrm>
          <a:off x="693057" y="1488348"/>
          <a:ext cx="9201150" cy="510260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387736470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020595868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666976704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330026452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75944226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4693042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97580587"/>
                    </a:ext>
                  </a:extLst>
                </a:gridCol>
              </a:tblGrid>
              <a:tr h="842660">
                <a:tc>
                  <a:txBody>
                    <a:bodyPr/>
                    <a:lstStyle/>
                    <a:p>
                      <a:r>
                        <a:rPr lang="en-GB" sz="1400" dirty="0"/>
                        <a:t>Scenario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PR-AUC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Balanced Accuracy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BCE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F1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AUROC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9454696"/>
                  </a:ext>
                </a:extLst>
              </a:tr>
              <a:tr h="420084">
                <a:tc rowSpan="2">
                  <a:txBody>
                    <a:bodyPr/>
                    <a:lstStyle/>
                    <a:p>
                      <a:r>
                        <a:rPr lang="en-GB" sz="1400" dirty="0"/>
                        <a:t>Actor withdrawal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Fine-tuning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0.6276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/>
                        <a:t>0.7005</a:t>
                      </a:r>
                      <a:endParaRPr lang="en-US" sz="1400" dirty="0"/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0.5468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0.6365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0.7686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0094025"/>
                  </a:ext>
                </a:extLst>
              </a:tr>
              <a:tr h="377372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Full Retraining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0.6252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0.6980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0.5474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0.6339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0.7678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4423552"/>
                  </a:ext>
                </a:extLst>
              </a:tr>
              <a:tr h="377371">
                <a:tc rowSpan="2">
                  <a:txBody>
                    <a:bodyPr/>
                    <a:lstStyle/>
                    <a:p>
                      <a:r>
                        <a:rPr lang="en-GB" sz="1400" dirty="0"/>
                        <a:t>Submission withdrawal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Fine-tuning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0.6280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0.6978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/>
                        <a:t>0.5471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0.6341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0.7682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747558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Full Retraining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0.6270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0.6988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0.5474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0.6344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0.7676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5014763"/>
                  </a:ext>
                </a:extLst>
              </a:tr>
              <a:tr h="178526">
                <a:tc rowSpan="2">
                  <a:txBody>
                    <a:bodyPr/>
                    <a:lstStyle/>
                    <a:p>
                      <a:r>
                        <a:rPr lang="en-GB" sz="1400" dirty="0"/>
                        <a:t>Agency withdrawal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Fine-tuning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0.6328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0.7050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0.5446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0.6424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0.7722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9724062"/>
                  </a:ext>
                </a:extLst>
              </a:tr>
              <a:tr h="149497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Full Retraining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0.6315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0.7026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0.5443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0.6416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0.7720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9173589"/>
                  </a:ext>
                </a:extLst>
              </a:tr>
              <a:tr h="168366">
                <a:tc rowSpan="2">
                  <a:txBody>
                    <a:bodyPr/>
                    <a:lstStyle/>
                    <a:p>
                      <a:r>
                        <a:rPr lang="en-GB" sz="1400" dirty="0"/>
                        <a:t>Project closure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Fine-tuning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0.6373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0.7004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0.5477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0.6447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0.7710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4734911"/>
                  </a:ext>
                </a:extLst>
              </a:tr>
              <a:tr h="328023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Full Retraining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0.6380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0.7021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0.5471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0.6457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0.7714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5622011"/>
                  </a:ext>
                </a:extLst>
              </a:tr>
              <a:tr h="274320">
                <a:tc rowSpan="2">
                  <a:txBody>
                    <a:bodyPr/>
                    <a:lstStyle/>
                    <a:p>
                      <a:r>
                        <a:rPr lang="en-GB" sz="1400" dirty="0"/>
                        <a:t>Retention expiry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Fine-tuning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0.6324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0.7031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0.5432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0.6386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0.7726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600051"/>
                  </a:ext>
                </a:extLst>
              </a:tr>
              <a:tr h="436584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Full Retraining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0.6318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0.7016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0.5433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0.6358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0.7727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79943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37216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6CE50-7144-CD47-E29E-C5C74D219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Forgetfulness Results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4F1EF51-EA77-E9FB-3E94-9D6C02A22B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8566340"/>
              </p:ext>
            </p:extLst>
          </p:nvPr>
        </p:nvGraphicFramePr>
        <p:xfrm>
          <a:off x="838200" y="1468594"/>
          <a:ext cx="8412480" cy="45212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03400">
                  <a:extLst>
                    <a:ext uri="{9D8B030D-6E8A-4147-A177-3AD203B41FA5}">
                      <a16:colId xmlns:a16="http://schemas.microsoft.com/office/drawing/2014/main" val="2081634951"/>
                    </a:ext>
                  </a:extLst>
                </a:gridCol>
                <a:gridCol w="2402840">
                  <a:extLst>
                    <a:ext uri="{9D8B030D-6E8A-4147-A177-3AD203B41FA5}">
                      <a16:colId xmlns:a16="http://schemas.microsoft.com/office/drawing/2014/main" val="343609956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79209587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23964794"/>
                    </a:ext>
                  </a:extLst>
                </a:gridCol>
              </a:tblGrid>
              <a:tr h="594471">
                <a:tc>
                  <a:txBody>
                    <a:bodyPr/>
                    <a:lstStyle/>
                    <a:p>
                      <a:r>
                        <a:rPr lang="en-GB" dirty="0"/>
                        <a:t>Scenario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Forget Rows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KS p-value ↑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KS statistics ↓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0082824"/>
                  </a:ext>
                </a:extLst>
              </a:tr>
              <a:tr h="594471">
                <a:tc>
                  <a:txBody>
                    <a:bodyPr/>
                    <a:lstStyle/>
                    <a:p>
                      <a:r>
                        <a:rPr lang="en-GB" dirty="0"/>
                        <a:t>Actor withdrawal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0.9725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0.0337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8347219"/>
                  </a:ext>
                </a:extLst>
              </a:tr>
              <a:tr h="1026074">
                <a:tc>
                  <a:txBody>
                    <a:bodyPr/>
                    <a:lstStyle/>
                    <a:p>
                      <a:r>
                        <a:rPr lang="en-GB" dirty="0"/>
                        <a:t>Submission withdrawal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2,137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0.8483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0.0187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7105863"/>
                  </a:ext>
                </a:extLst>
              </a:tr>
              <a:tr h="1026074">
                <a:tc>
                  <a:txBody>
                    <a:bodyPr/>
                    <a:lstStyle/>
                    <a:p>
                      <a:r>
                        <a:rPr lang="en-GB" dirty="0"/>
                        <a:t>Agency withdrawal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4,224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0.4675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0.0185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5587359"/>
                  </a:ext>
                </a:extLst>
              </a:tr>
              <a:tr h="594471">
                <a:tc>
                  <a:txBody>
                    <a:bodyPr/>
                    <a:lstStyle/>
                    <a:p>
                      <a:r>
                        <a:rPr lang="en-GB" dirty="0"/>
                        <a:t>Project closure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6,289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0.0324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0.0256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8694526"/>
                  </a:ext>
                </a:extLst>
              </a:tr>
              <a:tr h="594471">
                <a:tc>
                  <a:txBody>
                    <a:bodyPr/>
                    <a:lstStyle/>
                    <a:p>
                      <a:r>
                        <a:rPr lang="en-GB" dirty="0"/>
                        <a:t>Retention expiry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6,298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0.3022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0.0173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579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10756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3F247-5E2F-6448-AA5B-FF4329E5C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Efficiency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882FA2-170B-C5D5-53FF-76329537D1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F04A802-2344-C152-C3D7-2016311DCE7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64128583"/>
              </p:ext>
            </p:extLst>
          </p:nvPr>
        </p:nvGraphicFramePr>
        <p:xfrm>
          <a:off x="1694543" y="1690688"/>
          <a:ext cx="8412480" cy="45212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03400">
                  <a:extLst>
                    <a:ext uri="{9D8B030D-6E8A-4147-A177-3AD203B41FA5}">
                      <a16:colId xmlns:a16="http://schemas.microsoft.com/office/drawing/2014/main" val="2081634951"/>
                    </a:ext>
                  </a:extLst>
                </a:gridCol>
                <a:gridCol w="2402840">
                  <a:extLst>
                    <a:ext uri="{9D8B030D-6E8A-4147-A177-3AD203B41FA5}">
                      <a16:colId xmlns:a16="http://schemas.microsoft.com/office/drawing/2014/main" val="343609956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79209587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23964794"/>
                    </a:ext>
                  </a:extLst>
                </a:gridCol>
              </a:tblGrid>
              <a:tr h="594471">
                <a:tc>
                  <a:txBody>
                    <a:bodyPr/>
                    <a:lstStyle/>
                    <a:p>
                      <a:r>
                        <a:rPr lang="en-GB" dirty="0"/>
                        <a:t>Scenario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Fine-tuning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Full Retraining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Spped</a:t>
                      </a:r>
                      <a:r>
                        <a:rPr lang="en-GB" dirty="0"/>
                        <a:t>-up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0082824"/>
                  </a:ext>
                </a:extLst>
              </a:tr>
              <a:tr h="594471">
                <a:tc>
                  <a:txBody>
                    <a:bodyPr/>
                    <a:lstStyle/>
                    <a:p>
                      <a:r>
                        <a:rPr lang="en-GB" dirty="0"/>
                        <a:t>Actor withdrawal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17.53 sec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45.93 sec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2.62×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8347219"/>
                  </a:ext>
                </a:extLst>
              </a:tr>
              <a:tr h="1026074">
                <a:tc>
                  <a:txBody>
                    <a:bodyPr/>
                    <a:lstStyle/>
                    <a:p>
                      <a:r>
                        <a:rPr lang="en-GB" dirty="0"/>
                        <a:t>Submission withdrawal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9.71 sec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51.71 sec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5.33×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7105863"/>
                  </a:ext>
                </a:extLst>
              </a:tr>
              <a:tr h="1026074">
                <a:tc>
                  <a:txBody>
                    <a:bodyPr/>
                    <a:lstStyle/>
                    <a:p>
                      <a:r>
                        <a:rPr lang="en-GB" dirty="0"/>
                        <a:t>Agency withdrawal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13.08 sec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50.00 sec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3.82×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5587359"/>
                  </a:ext>
                </a:extLst>
              </a:tr>
              <a:tr h="594471">
                <a:tc>
                  <a:txBody>
                    <a:bodyPr/>
                    <a:lstStyle/>
                    <a:p>
                      <a:r>
                        <a:rPr lang="en-GB" dirty="0"/>
                        <a:t>Project closure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7.01 sec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61.14 sec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8.72×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8694526"/>
                  </a:ext>
                </a:extLst>
              </a:tr>
              <a:tr h="594471">
                <a:tc>
                  <a:txBody>
                    <a:bodyPr/>
                    <a:lstStyle/>
                    <a:p>
                      <a:r>
                        <a:rPr lang="en-GB" dirty="0"/>
                        <a:t>Retention expiry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9.79 sec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51.33 sec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5.24×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579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07930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3B908-F6EE-FEAA-6A83-D46FC7D24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Ascent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EA4222-1DB5-A3E8-5E3C-0538CFC99F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AutoNum type="arabicPeriod"/>
            </a:pPr>
            <a:r>
              <a:rPr lang="en-US" dirty="0"/>
              <a:t>Load the Baseline model, preprocessor and data splits from Notebook 1</a:t>
            </a:r>
          </a:p>
          <a:p>
            <a:pPr marL="514350" indent="-514350">
              <a:buAutoNum type="arabicPeriod"/>
            </a:pPr>
            <a:r>
              <a:rPr lang="en-US" dirty="0"/>
              <a:t>Load the 5 forget/retain sets and full retraining references from Notebook 2</a:t>
            </a:r>
          </a:p>
          <a:p>
            <a:pPr marL="514350" indent="-514350">
              <a:buAutoNum type="arabicPeriod"/>
            </a:pPr>
            <a:r>
              <a:rPr lang="en-US" dirty="0"/>
              <a:t>Verify hashes, indices and model architecture</a:t>
            </a:r>
          </a:p>
          <a:p>
            <a:pPr marL="514350" indent="-514350">
              <a:buAutoNum type="arabicPeriod"/>
            </a:pPr>
            <a:r>
              <a:rPr lang="en-US" dirty="0"/>
              <a:t>Reload a fresh Baseline model for each scenario</a:t>
            </a:r>
          </a:p>
          <a:p>
            <a:pPr marL="514350" indent="-514350">
              <a:buAutoNum type="arabicPeriod"/>
            </a:pPr>
            <a:r>
              <a:rPr lang="en-US" dirty="0"/>
              <a:t>Train only on forget records using gradient ascent to increase their BCE</a:t>
            </a:r>
          </a:p>
          <a:p>
            <a:pPr marL="514350" indent="-514350">
              <a:buAutoNum type="arabicPeriod"/>
            </a:pPr>
            <a:r>
              <a:rPr lang="en-US" dirty="0"/>
              <a:t>Select the best post-update checkpoint using retained-validation BCE</a:t>
            </a:r>
          </a:p>
          <a:p>
            <a:pPr marL="514350" indent="-514350">
              <a:buAutoNum type="arabicPeriod"/>
            </a:pPr>
            <a:r>
              <a:rPr lang="en-US" dirty="0"/>
              <a:t>Apply the fixed baseline threshold of 0.32</a:t>
            </a:r>
          </a:p>
          <a:p>
            <a:pPr marL="514350" indent="-514350">
              <a:buAutoNum type="arabicPeriod"/>
            </a:pPr>
            <a:r>
              <a:rPr lang="en-US" dirty="0"/>
              <a:t>Measure utility metrics</a:t>
            </a:r>
          </a:p>
          <a:p>
            <a:pPr marL="514350" indent="-514350">
              <a:buAutoNum type="arabicPeriod"/>
            </a:pPr>
            <a:r>
              <a:rPr lang="en-US" dirty="0"/>
              <a:t>Compare with full retraining using Truth Ratio and KS test</a:t>
            </a:r>
          </a:p>
        </p:txBody>
      </p:sp>
    </p:spTree>
    <p:extLst>
      <p:ext uri="{BB962C8B-B14F-4D97-AF65-F5344CB8AC3E}">
        <p14:creationId xmlns:p14="http://schemas.microsoft.com/office/powerpoint/2010/main" val="10036392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DE299-FD7C-9594-2CD0-1AB13ED53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6705F-6B00-5055-4A2F-DFCF0F7F2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Utility Results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EF48701-6158-8029-AC1C-FE54885FB0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7199317"/>
              </p:ext>
            </p:extLst>
          </p:nvPr>
        </p:nvGraphicFramePr>
        <p:xfrm>
          <a:off x="693056" y="1488348"/>
          <a:ext cx="10515596" cy="5004527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1502228">
                  <a:extLst>
                    <a:ext uri="{9D8B030D-6E8A-4147-A177-3AD203B41FA5}">
                      <a16:colId xmlns:a16="http://schemas.microsoft.com/office/drawing/2014/main" val="387736470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3020595868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1666976704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330026452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175944226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46930423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097580587"/>
                    </a:ext>
                  </a:extLst>
                </a:gridCol>
              </a:tblGrid>
              <a:tr h="842660">
                <a:tc>
                  <a:txBody>
                    <a:bodyPr/>
                    <a:lstStyle/>
                    <a:p>
                      <a:r>
                        <a:rPr lang="en-GB" sz="1400" dirty="0"/>
                        <a:t>Scenario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PR-AUC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Balanced Accuracy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BCE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F1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AUROC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9454696"/>
                  </a:ext>
                </a:extLst>
              </a:tr>
              <a:tr h="420084">
                <a:tc rowSpan="2">
                  <a:txBody>
                    <a:bodyPr/>
                    <a:lstStyle/>
                    <a:p>
                      <a:r>
                        <a:rPr lang="en-GB" sz="1400" dirty="0"/>
                        <a:t>Actor withdrawal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Gradient Ascent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0.6268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/>
                        <a:t>0.6970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0.5470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0.6346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0.7678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0094025"/>
                  </a:ext>
                </a:extLst>
              </a:tr>
              <a:tr h="377372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Full Retraining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0.6252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0.6980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0.5474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0.6339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0.7678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4423552"/>
                  </a:ext>
                </a:extLst>
              </a:tr>
              <a:tr h="377371">
                <a:tc rowSpan="2">
                  <a:txBody>
                    <a:bodyPr/>
                    <a:lstStyle/>
                    <a:p>
                      <a:r>
                        <a:rPr lang="en-GB" sz="1400" dirty="0"/>
                        <a:t>Submission withdrawal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Gradient Ascent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0.6278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0.6957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/>
                        <a:t>0.5471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0.6329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0.7677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747558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Full Retraining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0.6270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0.6988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0.5474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0.6344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0.7676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5014763"/>
                  </a:ext>
                </a:extLst>
              </a:tr>
              <a:tr h="178526">
                <a:tc rowSpan="2">
                  <a:txBody>
                    <a:bodyPr/>
                    <a:lstStyle/>
                    <a:p>
                      <a:r>
                        <a:rPr lang="en-GB" sz="1400" dirty="0"/>
                        <a:t>Agency withdrawal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Gradient Ascent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0.6317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0.7018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0.5447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0.6409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0.7715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9724062"/>
                  </a:ext>
                </a:extLst>
              </a:tr>
              <a:tr h="149497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Full Retraining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0.6315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0.7026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0.5443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0.6416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0.7720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9173589"/>
                  </a:ext>
                </a:extLst>
              </a:tr>
              <a:tr h="168366">
                <a:tc rowSpan="2">
                  <a:txBody>
                    <a:bodyPr/>
                    <a:lstStyle/>
                    <a:p>
                      <a:r>
                        <a:rPr lang="en-GB" sz="1400" dirty="0"/>
                        <a:t>Project closure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Gradient Ascent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0.6362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0.7004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0.5478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0.6454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0.7706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4734911"/>
                  </a:ext>
                </a:extLst>
              </a:tr>
              <a:tr h="328023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Full Retraining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0.6380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0.7021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0.5471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0.6457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0.7714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5622011"/>
                  </a:ext>
                </a:extLst>
              </a:tr>
              <a:tr h="274320">
                <a:tc rowSpan="2">
                  <a:txBody>
                    <a:bodyPr/>
                    <a:lstStyle/>
                    <a:p>
                      <a:r>
                        <a:rPr lang="en-GB" sz="1400" dirty="0"/>
                        <a:t>Retention expiry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Gradient Ascent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0.6316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0.7000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0.5433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0.6373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0.7720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600051"/>
                  </a:ext>
                </a:extLst>
              </a:tr>
              <a:tr h="436584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Full Retraining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0.6318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0.7016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0.5433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0.6358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0.7727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79943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39061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9DE85-3DFD-6FF7-03DB-912F7623B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A99FE-7877-E67A-E4D2-8B03B787A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Forgetfulness Results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87EC236-1A7B-CECD-E6DA-4131E48082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83451469"/>
              </p:ext>
            </p:extLst>
          </p:nvPr>
        </p:nvGraphicFramePr>
        <p:xfrm>
          <a:off x="838200" y="1468594"/>
          <a:ext cx="8412480" cy="4521250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1803400">
                  <a:extLst>
                    <a:ext uri="{9D8B030D-6E8A-4147-A177-3AD203B41FA5}">
                      <a16:colId xmlns:a16="http://schemas.microsoft.com/office/drawing/2014/main" val="2081634951"/>
                    </a:ext>
                  </a:extLst>
                </a:gridCol>
                <a:gridCol w="2402840">
                  <a:extLst>
                    <a:ext uri="{9D8B030D-6E8A-4147-A177-3AD203B41FA5}">
                      <a16:colId xmlns:a16="http://schemas.microsoft.com/office/drawing/2014/main" val="343609956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79209587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23964794"/>
                    </a:ext>
                  </a:extLst>
                </a:gridCol>
              </a:tblGrid>
              <a:tr h="594471">
                <a:tc>
                  <a:txBody>
                    <a:bodyPr/>
                    <a:lstStyle/>
                    <a:p>
                      <a:r>
                        <a:rPr lang="en-GB" dirty="0"/>
                        <a:t>Scenario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Forget Rows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KS p-value ↑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KS statistics ↓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0082824"/>
                  </a:ext>
                </a:extLst>
              </a:tr>
              <a:tr h="594471">
                <a:tc>
                  <a:txBody>
                    <a:bodyPr/>
                    <a:lstStyle/>
                    <a:p>
                      <a:r>
                        <a:rPr lang="en-GB" dirty="0"/>
                        <a:t>Actor withdrawal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0.8777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0.0410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8347219"/>
                  </a:ext>
                </a:extLst>
              </a:tr>
              <a:tr h="1026074">
                <a:tc>
                  <a:txBody>
                    <a:bodyPr/>
                    <a:lstStyle/>
                    <a:p>
                      <a:r>
                        <a:rPr lang="en-GB" dirty="0"/>
                        <a:t>Submission withdrawal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2,137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0.8882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0.0178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7105863"/>
                  </a:ext>
                </a:extLst>
              </a:tr>
              <a:tr h="1026074">
                <a:tc>
                  <a:txBody>
                    <a:bodyPr/>
                    <a:lstStyle/>
                    <a:p>
                      <a:r>
                        <a:rPr lang="en-GB" dirty="0"/>
                        <a:t>Agency withdrawal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4,224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0.8045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0.0140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5587359"/>
                  </a:ext>
                </a:extLst>
              </a:tr>
              <a:tr h="594471">
                <a:tc>
                  <a:txBody>
                    <a:bodyPr/>
                    <a:lstStyle/>
                    <a:p>
                      <a:r>
                        <a:rPr lang="en-GB" dirty="0"/>
                        <a:t>Project closure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6,289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0.2620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0.0180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8694526"/>
                  </a:ext>
                </a:extLst>
              </a:tr>
              <a:tr h="594471">
                <a:tc>
                  <a:txBody>
                    <a:bodyPr/>
                    <a:lstStyle/>
                    <a:p>
                      <a:r>
                        <a:rPr lang="en-GB" dirty="0"/>
                        <a:t>Retention expiry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6,298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0.6148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0.0135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579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18931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48F8B-E483-8EF8-1E38-12E1E4E9D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B472C-1CF4-C369-AD47-924B4B314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Efficiency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F7C96C-807C-2BEF-581C-790227724E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16B6FF0-F946-54CB-A614-6143263FEEB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54662602"/>
              </p:ext>
            </p:extLst>
          </p:nvPr>
        </p:nvGraphicFramePr>
        <p:xfrm>
          <a:off x="1694543" y="1690688"/>
          <a:ext cx="8412480" cy="4521250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1803400">
                  <a:extLst>
                    <a:ext uri="{9D8B030D-6E8A-4147-A177-3AD203B41FA5}">
                      <a16:colId xmlns:a16="http://schemas.microsoft.com/office/drawing/2014/main" val="2081634951"/>
                    </a:ext>
                  </a:extLst>
                </a:gridCol>
                <a:gridCol w="2402840">
                  <a:extLst>
                    <a:ext uri="{9D8B030D-6E8A-4147-A177-3AD203B41FA5}">
                      <a16:colId xmlns:a16="http://schemas.microsoft.com/office/drawing/2014/main" val="343609956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79209587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23964794"/>
                    </a:ext>
                  </a:extLst>
                </a:gridCol>
              </a:tblGrid>
              <a:tr h="594471">
                <a:tc>
                  <a:txBody>
                    <a:bodyPr/>
                    <a:lstStyle/>
                    <a:p>
                      <a:r>
                        <a:rPr lang="en-GB" dirty="0"/>
                        <a:t>Scenario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Gradient Ascent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Full Retraining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Spped</a:t>
                      </a:r>
                      <a:r>
                        <a:rPr lang="en-GB" dirty="0"/>
                        <a:t>-up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0082824"/>
                  </a:ext>
                </a:extLst>
              </a:tr>
              <a:tr h="594471">
                <a:tc>
                  <a:txBody>
                    <a:bodyPr/>
                    <a:lstStyle/>
                    <a:p>
                      <a:r>
                        <a:rPr lang="en-GB" dirty="0"/>
                        <a:t>Actor withdrawal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1.39 sec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45.93 sec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33.14×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8347219"/>
                  </a:ext>
                </a:extLst>
              </a:tr>
              <a:tr h="1026074">
                <a:tc>
                  <a:txBody>
                    <a:bodyPr/>
                    <a:lstStyle/>
                    <a:p>
                      <a:r>
                        <a:rPr lang="en-GB" dirty="0"/>
                        <a:t>Submission withdrawal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1.80 sec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51.71 sec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28.80×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7105863"/>
                  </a:ext>
                </a:extLst>
              </a:tr>
              <a:tr h="1026074">
                <a:tc>
                  <a:txBody>
                    <a:bodyPr/>
                    <a:lstStyle/>
                    <a:p>
                      <a:r>
                        <a:rPr lang="en-GB" dirty="0"/>
                        <a:t>Agency withdrawal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2.54 sec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50.00 sec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19.72×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5587359"/>
                  </a:ext>
                </a:extLst>
              </a:tr>
              <a:tr h="594471">
                <a:tc>
                  <a:txBody>
                    <a:bodyPr/>
                    <a:lstStyle/>
                    <a:p>
                      <a:r>
                        <a:rPr lang="en-GB" dirty="0"/>
                        <a:t>Project closure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3.12 sec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61.14 sec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19.60×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8694526"/>
                  </a:ext>
                </a:extLst>
              </a:tr>
              <a:tr h="594471">
                <a:tc>
                  <a:txBody>
                    <a:bodyPr/>
                    <a:lstStyle/>
                    <a:p>
                      <a:r>
                        <a:rPr lang="en-GB" dirty="0"/>
                        <a:t>Retention expiry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3.23 sec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51.33 sec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15.91×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579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71504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452F5-47E1-9FA9-C934-00E6AAA91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SISA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7DE7D7-1DB4-C8F6-8952-3D80DAC89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1429"/>
            <a:ext cx="10515600" cy="5041446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buAutoNum type="arabicPeriod"/>
            </a:pPr>
            <a:r>
              <a:rPr lang="en-GB" dirty="0"/>
              <a:t>Loaded the preprocessor, data splits and artifacts from Notebook </a:t>
            </a:r>
            <a:r>
              <a:rPr lang="en-US" dirty="0"/>
              <a:t>1</a:t>
            </a:r>
          </a:p>
          <a:p>
            <a:pPr marL="514350" indent="-514350">
              <a:buAutoNum type="arabicPeriod"/>
            </a:pPr>
            <a:r>
              <a:rPr lang="en-GB" dirty="0"/>
              <a:t>Loaded the five forget/retain sets and full-retraining references from Notebook 2.</a:t>
            </a:r>
          </a:p>
          <a:p>
            <a:pPr marL="514350" indent="-514350">
              <a:buAutoNum type="arabicPeriod"/>
            </a:pPr>
            <a:r>
              <a:rPr lang="en-GB" dirty="0"/>
              <a:t>Verified hashes, indices, features and model architecture.</a:t>
            </a:r>
          </a:p>
          <a:p>
            <a:pPr marL="514350" indent="-514350">
              <a:buAutoNum type="arabicPeriod"/>
            </a:pPr>
            <a:r>
              <a:rPr lang="en-GB" dirty="0"/>
              <a:t>Divided training data into five isolated shards and five ordered slices.</a:t>
            </a:r>
          </a:p>
          <a:p>
            <a:pPr marL="514350" indent="-514350">
              <a:buAutoNum type="arabicPeriod"/>
            </a:pPr>
            <a:r>
              <a:rPr lang="en-GB" dirty="0"/>
              <a:t>Trained one model per shard using cumulative slices and saved each checkpoint.</a:t>
            </a:r>
          </a:p>
          <a:p>
            <a:pPr marL="514350" indent="-514350">
              <a:buAutoNum type="arabicPeriod"/>
            </a:pPr>
            <a:r>
              <a:rPr lang="en-GB" dirty="0"/>
              <a:t>Averaged the five model probabilities to create the Original SISA ensemble.</a:t>
            </a:r>
          </a:p>
          <a:p>
            <a:pPr marL="514350" indent="-514350">
              <a:buAutoNum type="arabicPeriod"/>
            </a:pPr>
            <a:r>
              <a:rPr lang="en-GB" dirty="0"/>
              <a:t>Identified the affected shards and earliest affected slice for each deletion.</a:t>
            </a:r>
          </a:p>
          <a:p>
            <a:pPr marL="514350" indent="-514350">
              <a:buAutoNum type="arabicPeriod"/>
            </a:pPr>
            <a:r>
              <a:rPr lang="en-GB" dirty="0"/>
              <a:t>Removed all forget records and replayed the affected shard stages.</a:t>
            </a:r>
          </a:p>
          <a:p>
            <a:pPr marL="514350" indent="-514350">
              <a:buAutoNum type="arabicPeriod"/>
            </a:pPr>
            <a:r>
              <a:rPr lang="en-GB" dirty="0"/>
              <a:t>Trained clean retain-only SISA ensembles to verify replay correctness.</a:t>
            </a:r>
          </a:p>
          <a:p>
            <a:pPr marL="514350" indent="-514350">
              <a:buAutoNum type="arabicPeriod"/>
            </a:pPr>
            <a:r>
              <a:rPr lang="en-GB" dirty="0"/>
              <a:t>Measured retained utility against monolithic full retraining.</a:t>
            </a:r>
          </a:p>
          <a:p>
            <a:pPr marL="514350" indent="-514350">
              <a:buAutoNum type="arabicPeriod"/>
            </a:pPr>
            <a:r>
              <a:rPr lang="en-GB" dirty="0"/>
              <a:t>Measured Forget Quality against both monolithic and method-matched references.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altLang="en-US" dirty="0">
                <a:latin typeface="Arial" panose="020B0604020202020204" pitchFamily="34" charset="0"/>
              </a:rPr>
              <a:t>Compared replay time, total cost and storage with full retraining. </a:t>
            </a:r>
          </a:p>
          <a:p>
            <a:pPr marL="514350" indent="-514350">
              <a:buAutoNum type="arabicPeriod"/>
            </a:pPr>
            <a:endParaRPr lang="en-GB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CB14D2FD-2A9E-54FB-497E-BCD9C0D4C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19710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A1542-7D40-6549-A2D9-4BC0A00BD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D886E-7140-81BE-EF73-14BA3E956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Utility Results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CBD50DB-E7CF-A427-E9D3-BFF9AE2580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7430242"/>
              </p:ext>
            </p:extLst>
          </p:nvPr>
        </p:nvGraphicFramePr>
        <p:xfrm>
          <a:off x="693057" y="1488348"/>
          <a:ext cx="9201150" cy="5004527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387736470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020595868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666976704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330026452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75944226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4693042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97580587"/>
                    </a:ext>
                  </a:extLst>
                </a:gridCol>
              </a:tblGrid>
              <a:tr h="842660">
                <a:tc>
                  <a:txBody>
                    <a:bodyPr/>
                    <a:lstStyle/>
                    <a:p>
                      <a:r>
                        <a:rPr lang="en-GB" sz="1400" dirty="0"/>
                        <a:t>Scenario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PR-AUC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Balanced Accuracy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BCE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F1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AUROC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9454696"/>
                  </a:ext>
                </a:extLst>
              </a:tr>
              <a:tr h="420084">
                <a:tc rowSpan="2">
                  <a:txBody>
                    <a:bodyPr/>
                    <a:lstStyle/>
                    <a:p>
                      <a:r>
                        <a:rPr lang="en-GB" sz="1400" dirty="0"/>
                        <a:t>Actor withdrawal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SISA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0.6281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/>
                        <a:t>0.6967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0.5479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0.6346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0.7675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0094025"/>
                  </a:ext>
                </a:extLst>
              </a:tr>
              <a:tr h="377372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Full Retraining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0.6252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0.6980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0.5474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0.6339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0.7678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4423552"/>
                  </a:ext>
                </a:extLst>
              </a:tr>
              <a:tr h="377371">
                <a:tc rowSpan="2">
                  <a:txBody>
                    <a:bodyPr/>
                    <a:lstStyle/>
                    <a:p>
                      <a:r>
                        <a:rPr lang="en-GB" sz="1400" dirty="0"/>
                        <a:t>Submission withdrawal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SISA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0.6281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0.6972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/>
                        <a:t>0.5482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0.6339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0.7674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747558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Full Retraining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0.6270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0.6988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0.5474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0.6344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0.7676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5014763"/>
                  </a:ext>
                </a:extLst>
              </a:tr>
              <a:tr h="178526">
                <a:tc rowSpan="2">
                  <a:txBody>
                    <a:bodyPr/>
                    <a:lstStyle/>
                    <a:p>
                      <a:r>
                        <a:rPr lang="en-GB" sz="1400" dirty="0"/>
                        <a:t>Agency withdrawal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SISA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0.6331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0.7024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0.5456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0.6415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0.7714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9724062"/>
                  </a:ext>
                </a:extLst>
              </a:tr>
              <a:tr h="149497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Full Retraining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0.6315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0.7026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0.5443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0.6416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0.7720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9173589"/>
                  </a:ext>
                </a:extLst>
              </a:tr>
              <a:tr h="168366">
                <a:tc rowSpan="2">
                  <a:txBody>
                    <a:bodyPr/>
                    <a:lstStyle/>
                    <a:p>
                      <a:r>
                        <a:rPr lang="en-GB" sz="1400" dirty="0"/>
                        <a:t>Project closure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SISA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0.6387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0.7005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0.5490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0.6452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0.7702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4734911"/>
                  </a:ext>
                </a:extLst>
              </a:tr>
              <a:tr h="328023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Full Retraining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0.6380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0.7021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0.5471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0.6457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0.7714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5622011"/>
                  </a:ext>
                </a:extLst>
              </a:tr>
              <a:tr h="274320">
                <a:tc rowSpan="2">
                  <a:txBody>
                    <a:bodyPr/>
                    <a:lstStyle/>
                    <a:p>
                      <a:r>
                        <a:rPr lang="en-GB" sz="1400" dirty="0"/>
                        <a:t>Retention expiry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SISA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0.6328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0.7021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0.5444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0.6393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0.7718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600051"/>
                  </a:ext>
                </a:extLst>
              </a:tr>
              <a:tr h="436584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Full Retraining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0.6318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0.7016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0.5433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0.6358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0.7727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79943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69603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793FA-B928-DCBA-F733-0150F2D54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B692C-4C12-DC73-D2EE-47312FAE2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Forgetfulness Results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26E14F0-1EB1-0569-CCF4-94F209D43B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02729450"/>
              </p:ext>
            </p:extLst>
          </p:nvPr>
        </p:nvGraphicFramePr>
        <p:xfrm>
          <a:off x="838200" y="1468594"/>
          <a:ext cx="8412480" cy="4521250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1803400">
                  <a:extLst>
                    <a:ext uri="{9D8B030D-6E8A-4147-A177-3AD203B41FA5}">
                      <a16:colId xmlns:a16="http://schemas.microsoft.com/office/drawing/2014/main" val="2081634951"/>
                    </a:ext>
                  </a:extLst>
                </a:gridCol>
                <a:gridCol w="2402840">
                  <a:extLst>
                    <a:ext uri="{9D8B030D-6E8A-4147-A177-3AD203B41FA5}">
                      <a16:colId xmlns:a16="http://schemas.microsoft.com/office/drawing/2014/main" val="343609956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79209587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23964794"/>
                    </a:ext>
                  </a:extLst>
                </a:gridCol>
              </a:tblGrid>
              <a:tr h="594471">
                <a:tc>
                  <a:txBody>
                    <a:bodyPr/>
                    <a:lstStyle/>
                    <a:p>
                      <a:r>
                        <a:rPr lang="en-GB" dirty="0"/>
                        <a:t>Scenario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Forget Rows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KS p-value ↑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KS statistics ↓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0082824"/>
                  </a:ext>
                </a:extLst>
              </a:tr>
              <a:tr h="594471">
                <a:tc>
                  <a:txBody>
                    <a:bodyPr/>
                    <a:lstStyle/>
                    <a:p>
                      <a:r>
                        <a:rPr lang="en-GB" dirty="0"/>
                        <a:t>Actor withdrawal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0.1696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0.0771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8347219"/>
                  </a:ext>
                </a:extLst>
              </a:tr>
              <a:tr h="1026074">
                <a:tc>
                  <a:txBody>
                    <a:bodyPr/>
                    <a:lstStyle/>
                    <a:p>
                      <a:r>
                        <a:rPr lang="en-GB" dirty="0"/>
                        <a:t>Submission withdrawal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2,137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0.0796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0.0388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7105863"/>
                  </a:ext>
                </a:extLst>
              </a:tr>
              <a:tr h="1026074">
                <a:tc>
                  <a:txBody>
                    <a:bodyPr/>
                    <a:lstStyle/>
                    <a:p>
                      <a:r>
                        <a:rPr lang="en-GB" dirty="0"/>
                        <a:t>Agency withdrawal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4,224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0.0661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0.0284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5587359"/>
                  </a:ext>
                </a:extLst>
              </a:tr>
              <a:tr h="594471">
                <a:tc>
                  <a:txBody>
                    <a:bodyPr/>
                    <a:lstStyle/>
                    <a:p>
                      <a:r>
                        <a:rPr lang="en-GB" dirty="0"/>
                        <a:t>Project closure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6,289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3.403×10⁻⁶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0.0460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8694526"/>
                  </a:ext>
                </a:extLst>
              </a:tr>
              <a:tr h="594471">
                <a:tc>
                  <a:txBody>
                    <a:bodyPr/>
                    <a:lstStyle/>
                    <a:p>
                      <a:r>
                        <a:rPr lang="en-GB" dirty="0"/>
                        <a:t>Retention expiry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6,298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4.700×10⁻⁷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0.0492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579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01101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73C29-4873-2251-D70E-FF166DB55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7B62B-1867-38F4-545C-B4ACFA85C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Efficiency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2A8AF-BBF5-A30F-A228-C18D6D62E7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D086FA7-7917-F41A-E92C-AC038BBDF02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71522820"/>
              </p:ext>
            </p:extLst>
          </p:nvPr>
        </p:nvGraphicFramePr>
        <p:xfrm>
          <a:off x="1694543" y="1690688"/>
          <a:ext cx="8412481" cy="4612468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1402739">
                  <a:extLst>
                    <a:ext uri="{9D8B030D-6E8A-4147-A177-3AD203B41FA5}">
                      <a16:colId xmlns:a16="http://schemas.microsoft.com/office/drawing/2014/main" val="2081634951"/>
                    </a:ext>
                  </a:extLst>
                </a:gridCol>
                <a:gridCol w="1869001">
                  <a:extLst>
                    <a:ext uri="{9D8B030D-6E8A-4147-A177-3AD203B41FA5}">
                      <a16:colId xmlns:a16="http://schemas.microsoft.com/office/drawing/2014/main" val="1116344024"/>
                    </a:ext>
                  </a:extLst>
                </a:gridCol>
                <a:gridCol w="1869001">
                  <a:extLst>
                    <a:ext uri="{9D8B030D-6E8A-4147-A177-3AD203B41FA5}">
                      <a16:colId xmlns:a16="http://schemas.microsoft.com/office/drawing/2014/main" val="3436099562"/>
                    </a:ext>
                  </a:extLst>
                </a:gridCol>
                <a:gridCol w="1635870">
                  <a:extLst>
                    <a:ext uri="{9D8B030D-6E8A-4147-A177-3AD203B41FA5}">
                      <a16:colId xmlns:a16="http://schemas.microsoft.com/office/drawing/2014/main" val="792095870"/>
                    </a:ext>
                  </a:extLst>
                </a:gridCol>
                <a:gridCol w="1635870">
                  <a:extLst>
                    <a:ext uri="{9D8B030D-6E8A-4147-A177-3AD203B41FA5}">
                      <a16:colId xmlns:a16="http://schemas.microsoft.com/office/drawing/2014/main" val="123964794"/>
                    </a:ext>
                  </a:extLst>
                </a:gridCol>
              </a:tblGrid>
              <a:tr h="594471">
                <a:tc>
                  <a:txBody>
                    <a:bodyPr/>
                    <a:lstStyle/>
                    <a:p>
                      <a:r>
                        <a:rPr lang="en-GB" dirty="0"/>
                        <a:t>Scenario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SISA Reply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Full Retraining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Request Speedup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Spped</a:t>
                      </a:r>
                      <a:r>
                        <a:rPr lang="en-GB" dirty="0"/>
                        <a:t>-up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0082824"/>
                  </a:ext>
                </a:extLst>
              </a:tr>
              <a:tr h="594471">
                <a:tc>
                  <a:txBody>
                    <a:bodyPr/>
                    <a:lstStyle/>
                    <a:p>
                      <a:r>
                        <a:rPr lang="en-GB" dirty="0"/>
                        <a:t>Actor withdrawal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10.25 sec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45.93 sec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4.48×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2.14×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8347219"/>
                  </a:ext>
                </a:extLst>
              </a:tr>
              <a:tr h="1026074">
                <a:tc>
                  <a:txBody>
                    <a:bodyPr/>
                    <a:lstStyle/>
                    <a:p>
                      <a:r>
                        <a:rPr lang="en-GB" dirty="0"/>
                        <a:t>Submission withdrawal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10.03 sec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51.71 sec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5.16×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2.44×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7105863"/>
                  </a:ext>
                </a:extLst>
              </a:tr>
              <a:tr h="1026074">
                <a:tc>
                  <a:txBody>
                    <a:bodyPr/>
                    <a:lstStyle/>
                    <a:p>
                      <a:r>
                        <a:rPr lang="en-GB" dirty="0"/>
                        <a:t>Agency withdrawal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9.39 sec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50.00 sec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5.32×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2.43×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5587359"/>
                  </a:ext>
                </a:extLst>
              </a:tr>
              <a:tr h="594471">
                <a:tc>
                  <a:txBody>
                    <a:bodyPr/>
                    <a:lstStyle/>
                    <a:p>
                      <a:r>
                        <a:rPr lang="en-GB" dirty="0"/>
                        <a:t>Project closure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8.91 sec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61.14 sec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6.87×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3.05×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8694526"/>
                  </a:ext>
                </a:extLst>
              </a:tr>
              <a:tr h="594471">
                <a:tc>
                  <a:txBody>
                    <a:bodyPr/>
                    <a:lstStyle/>
                    <a:p>
                      <a:r>
                        <a:rPr lang="en-GB" dirty="0"/>
                        <a:t>Retention expiry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8.55 sec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51.33 sec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6.00×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2.60×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579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61114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14EAC-CE0F-3A4D-3732-4529E8C25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TOFU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718739-DF49-7C8F-7F76-EB7B55FBE8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8558"/>
            <a:ext cx="10515600" cy="536944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Model Utility </a:t>
            </a:r>
          </a:p>
          <a:p>
            <a:r>
              <a:rPr lang="en-US" dirty="0"/>
              <a:t>Answer Probability x3 (Retain set, Real authors, World facts)</a:t>
            </a:r>
          </a:p>
          <a:p>
            <a:r>
              <a:rPr lang="en-US" dirty="0"/>
              <a:t>ROUGE-L recall x3</a:t>
            </a:r>
          </a:p>
          <a:p>
            <a:r>
              <a:rPr lang="en-US" dirty="0"/>
              <a:t>Truth </a:t>
            </a:r>
            <a:r>
              <a:rPr lang="en-US" dirty="0" err="1"/>
              <a:t>RNormalised</a:t>
            </a:r>
            <a:r>
              <a:rPr lang="en-US" dirty="0"/>
              <a:t> so higher is better – uses harmonic mean for </a:t>
            </a:r>
            <a:r>
              <a:rPr lang="en-US" b="1" dirty="0"/>
              <a:t>model utility score</a:t>
            </a:r>
          </a:p>
          <a:p>
            <a:r>
              <a:rPr lang="en-US" dirty="0" err="1"/>
              <a:t>atio</a:t>
            </a:r>
            <a:r>
              <a:rPr lang="en-US" dirty="0"/>
              <a:t> x3</a:t>
            </a:r>
          </a:p>
          <a:p>
            <a:pPr marL="0" indent="0">
              <a:buNone/>
            </a:pPr>
            <a:r>
              <a:rPr lang="en-US" dirty="0"/>
              <a:t>Forget Quality </a:t>
            </a:r>
          </a:p>
          <a:p>
            <a:r>
              <a:rPr lang="en-US" dirty="0"/>
              <a:t>Truth Ratio on forget set (unlearned model vs retain only model)</a:t>
            </a:r>
          </a:p>
          <a:p>
            <a:r>
              <a:rPr lang="en-US" dirty="0" err="1"/>
              <a:t>Comapres</a:t>
            </a:r>
            <a:r>
              <a:rPr lang="en-US" dirty="0"/>
              <a:t> both </a:t>
            </a:r>
            <a:r>
              <a:rPr lang="en-US" dirty="0" err="1"/>
              <a:t>distribtuions</a:t>
            </a:r>
            <a:r>
              <a:rPr lang="en-US" dirty="0"/>
              <a:t> using a 2 sample KS test</a:t>
            </a:r>
          </a:p>
          <a:p>
            <a:r>
              <a:rPr lang="en-US" dirty="0"/>
              <a:t>KS p-value gives final forget quality score</a:t>
            </a:r>
          </a:p>
          <a:p>
            <a:r>
              <a:rPr lang="en-US" dirty="0"/>
              <a:t>Higher p-value = better forgetting</a:t>
            </a:r>
          </a:p>
        </p:txBody>
      </p:sp>
    </p:spTree>
    <p:extLst>
      <p:ext uri="{BB962C8B-B14F-4D97-AF65-F5344CB8AC3E}">
        <p14:creationId xmlns:p14="http://schemas.microsoft.com/office/powerpoint/2010/main" val="36823018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1823B-36C3-AC56-996A-C86B75EB8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78C39-7400-36F3-2444-077CE41DDD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 value = is there enough evidence to say these prediction distributions differ?</a:t>
            </a:r>
          </a:p>
          <a:p>
            <a:endParaRPr lang="en-US" dirty="0"/>
          </a:p>
          <a:p>
            <a:r>
              <a:rPr lang="en-US" dirty="0"/>
              <a:t>Make KS Statistic the main forgetting result for every method - this shows</a:t>
            </a:r>
          </a:p>
          <a:p>
            <a:r>
              <a:rPr lang="en-US" dirty="0"/>
              <a:t>KS statistic = how different the unlearned models predictions are from full retraining</a:t>
            </a:r>
          </a:p>
        </p:txBody>
      </p:sp>
    </p:spTree>
    <p:extLst>
      <p:ext uri="{BB962C8B-B14F-4D97-AF65-F5344CB8AC3E}">
        <p14:creationId xmlns:p14="http://schemas.microsoft.com/office/powerpoint/2010/main" val="1859315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21579</TotalTime>
  <Words>1452</Words>
  <Application>Microsoft Macintosh PowerPoint</Application>
  <PresentationFormat>Widescreen</PresentationFormat>
  <Paragraphs>533</Paragraphs>
  <Slides>19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Office Theme</vt:lpstr>
      <vt:lpstr>Results</vt:lpstr>
      <vt:lpstr>CastMe - Baseline</vt:lpstr>
      <vt:lpstr>Baseline Results</vt:lpstr>
      <vt:lpstr>Forget Sets &amp; retraining</vt:lpstr>
      <vt:lpstr>Retraining Results</vt:lpstr>
      <vt:lpstr>Retain Set Finetuning</vt:lpstr>
      <vt:lpstr>Utility Results</vt:lpstr>
      <vt:lpstr>Forgetfulness Results</vt:lpstr>
      <vt:lpstr>Efficiency</vt:lpstr>
      <vt:lpstr>Gradient Ascent</vt:lpstr>
      <vt:lpstr>Utility Results</vt:lpstr>
      <vt:lpstr>Forgetfulness Results</vt:lpstr>
      <vt:lpstr>Efficiency</vt:lpstr>
      <vt:lpstr>SISA</vt:lpstr>
      <vt:lpstr>Utility Results</vt:lpstr>
      <vt:lpstr>Forgetfulness Results</vt:lpstr>
      <vt:lpstr>Efficiency</vt:lpstr>
      <vt:lpstr>TOFU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Niamh Hughes</dc:creator>
  <cp:lastModifiedBy>Niamh Hughes</cp:lastModifiedBy>
  <cp:revision>3</cp:revision>
  <dcterms:created xsi:type="dcterms:W3CDTF">2026-08-03T14:17:34Z</dcterms:created>
  <dcterms:modified xsi:type="dcterms:W3CDTF">2026-08-18T13:56:54Z</dcterms:modified>
</cp:coreProperties>
</file>